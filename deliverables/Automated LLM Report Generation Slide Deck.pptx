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5" r:id="rId4"/>
    <p:sldId id="271" r:id="rId5"/>
    <p:sldId id="272" r:id="rId6"/>
    <p:sldId id="273" r:id="rId7"/>
    <p:sldId id="260" r:id="rId8"/>
    <p:sldId id="27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1056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4B231-6F88-3D4B-3B73-2D9FA6F4D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F7AA65-8D10-8A94-4D05-2B3B05DFCB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1F2CC-09CE-075C-08EF-AC5ADFD49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946C-7DBF-408F-83E4-5C907FC8F57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5F1B71-0E82-84DF-C238-025371354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1350E2-9561-4680-AEC0-FC2FAFEAD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6D8F7-C2B4-40D6-9D05-D357DB6DC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939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D6922-B496-2822-CE95-6E6AE3C42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368D-85A3-8DC1-3913-E4BF6CA5D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94024-16D1-C355-50DC-40D312987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946C-7DBF-408F-83E4-5C907FC8F57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F4054-89EC-13FC-BB70-3738FAA43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21F1B-0A58-0ECD-BE6A-81344A8EB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6D8F7-C2B4-40D6-9D05-D357DB6DC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682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24FD6-3AE8-3C6C-A7F7-096D41DA6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94660-3C60-4283-9F2E-EA150A1DF3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EAF01-9C14-9DD8-64D5-18D90693E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946C-7DBF-408F-83E4-5C907FC8F57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6977C-4CB1-108D-D07E-71A0384D9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3C556-CF3F-BF98-438F-0B5EBB328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6D8F7-C2B4-40D6-9D05-D357DB6DC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655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1CA29-8A62-DCE5-04B0-987780881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01E2B-8634-774F-3BF0-D0F66A21B3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D8965-7C68-4BA9-5DCB-39021DB7E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787F80-82A8-6FA3-EB01-98F9F43F1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946C-7DBF-408F-83E4-5C907FC8F57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BAAFDA-AC18-6570-1C2A-198E23595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82FFB4-F3C1-068F-D668-3B12FBF54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6D8F7-C2B4-40D6-9D05-D357DB6DC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760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83A69-D875-A143-9AA1-0DCB1CD8D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A6BDCA-74D8-E1BD-6EE4-BA9989A70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AE4404-BE8E-31C4-8BFE-B43B6D85F3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C125D2-87E6-0BC1-A4F4-6555BEC2E4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E09111-55AE-B863-877F-71CB91E326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D10AD2-2A91-6EE5-072D-9D08E42AB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946C-7DBF-408F-83E4-5C907FC8F57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A1318B-D655-2503-BD8E-F8FA059CF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C32899-95EB-1DC3-9976-997764CAA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6D8F7-C2B4-40D6-9D05-D357DB6DC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633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51854-04E0-58BF-2621-CA89653EB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12468D-3356-10AC-F423-1F5FF590E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946C-7DBF-408F-83E4-5C907FC8F57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A10BE2-A35A-0EFA-7AE0-4971B4533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E26AA0-DACB-FBF3-0537-EEA64A283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6D8F7-C2B4-40D6-9D05-D357DB6DC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545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C16A4E-6744-80C4-17BC-730A26839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946C-7DBF-408F-83E4-5C907FC8F57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0893F7-AB4B-88BA-0B0E-21EFB584A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B454A-6C3C-FA9E-9AC4-FB4B9E14D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6D8F7-C2B4-40D6-9D05-D357DB6DC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370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1D662-DA27-3C2A-C692-6653F9A38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3B5A4-4617-2C2D-81DB-6FE9A9D1C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7BD0A7-664C-A233-7AA1-1BC5E0EC7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913F4E-2294-3731-8D8D-2993B5F37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946C-7DBF-408F-83E4-5C907FC8F57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3F29D-0D05-6A52-E3DA-85DD64D4D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C6206F-984B-1961-D178-7D8D0CF81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6D8F7-C2B4-40D6-9D05-D357DB6DC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17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27D03-239D-4747-5BC8-576BB4FD1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1136B5-1562-212D-B609-3D34F6ED3B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9A5589-E106-6794-2B4E-6740A6C01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967619-F2A9-6765-345B-0B12C6385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946C-7DBF-408F-83E4-5C907FC8F57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01E3D6-0A40-2102-FF2E-9F01DFCED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269B4-D2C7-58FF-9E6A-EE9A27D28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6D8F7-C2B4-40D6-9D05-D357DB6DC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485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A8452-A699-A105-CAFD-201A20FE0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90F415-D391-6F09-0ABD-45AA0C6CC9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020C0-A8A4-A65F-EDD4-5690727DA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946C-7DBF-408F-83E4-5C907FC8F57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82341-8539-FD88-A023-3EB9641D3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59ADE-9438-77C5-EDD0-8D8C736D6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6D8F7-C2B4-40D6-9D05-D357DB6DC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776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DEB72D-C229-D6B9-8DD2-48D5156601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38B9A1-526E-69C0-3BF0-A5413509A4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90C77-8389-B2AC-9A25-E98D861D6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1946C-7DBF-408F-83E4-5C907FC8F57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4714-BD26-B9E5-C43A-624025B4B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ACA6C7-D417-749F-7C4D-6DCFBD97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6D8F7-C2B4-40D6-9D05-D357DB6DC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583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EAB5E7-7DD5-9473-B7D2-C5EF307C5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B3263C-596A-CC19-7E12-69C72044B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A5B16-E566-CBE4-A827-E33E4B8F38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A1946C-7DBF-408F-83E4-5C907FC8F577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3244E-BBA6-BE24-6170-C2AF58078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601B3-3F81-B028-4259-AB4599179F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56D8F7-C2B4-40D6-9D05-D357DB6DCA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902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334AE-EF0C-906B-93E1-FA061EB97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4906" y="583345"/>
            <a:ext cx="8115882" cy="4164820"/>
          </a:xfrm>
        </p:spPr>
        <p:txBody>
          <a:bodyPr anchor="t">
            <a:normAutofit/>
          </a:bodyPr>
          <a:lstStyle/>
          <a:p>
            <a:pPr algn="r"/>
            <a:r>
              <a:rPr lang="en-SG" sz="8000" dirty="0">
                <a:solidFill>
                  <a:srgbClr val="FFFFFF"/>
                </a:solidFill>
              </a:rPr>
              <a:t>Automated LLM Report Generation </a:t>
            </a:r>
            <a:endParaRPr lang="en-US" sz="80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F01927-A2A5-AF78-2E8C-8F0D0D530B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3021496"/>
            <a:ext cx="8578699" cy="3455504"/>
          </a:xfrm>
        </p:spPr>
        <p:txBody>
          <a:bodyPr>
            <a:normAutofit/>
          </a:bodyPr>
          <a:lstStyle/>
          <a:p>
            <a:pPr algn="l"/>
            <a:r>
              <a:rPr lang="en-SG" sz="3200" b="1" dirty="0"/>
              <a:t>Task:</a:t>
            </a:r>
          </a:p>
          <a:p>
            <a:pPr algn="just"/>
            <a:r>
              <a:rPr lang="en-SG" dirty="0"/>
              <a:t>Build a </a:t>
            </a:r>
            <a:r>
              <a:rPr lang="en-SG" dirty="0">
                <a:solidFill>
                  <a:srgbClr val="FFC000"/>
                </a:solidFill>
              </a:rPr>
              <a:t>lightweight</a:t>
            </a:r>
            <a:r>
              <a:rPr lang="en-SG" dirty="0"/>
              <a:t> prototype LLM-powered workflow to generate a business report with </a:t>
            </a:r>
            <a:r>
              <a:rPr lang="en-SG" dirty="0">
                <a:solidFill>
                  <a:srgbClr val="FFC000"/>
                </a:solidFill>
              </a:rPr>
              <a:t>reproducible structure </a:t>
            </a:r>
            <a:r>
              <a:rPr lang="en-SG" dirty="0"/>
              <a:t>and </a:t>
            </a:r>
            <a:r>
              <a:rPr lang="en-SG" dirty="0">
                <a:solidFill>
                  <a:srgbClr val="FFC000"/>
                </a:solidFill>
              </a:rPr>
              <a:t>coverage</a:t>
            </a:r>
            <a:r>
              <a:rPr lang="en-SG" dirty="0"/>
              <a:t> when run on the same dataset. The report is expected to contain </a:t>
            </a:r>
            <a:r>
              <a:rPr lang="en-SG" dirty="0">
                <a:solidFill>
                  <a:srgbClr val="FFC000"/>
                </a:solidFill>
              </a:rPr>
              <a:t>plots</a:t>
            </a:r>
            <a:r>
              <a:rPr lang="en-SG" dirty="0"/>
              <a:t> and </a:t>
            </a:r>
            <a:r>
              <a:rPr lang="en-SG" dirty="0">
                <a:solidFill>
                  <a:srgbClr val="FFC000"/>
                </a:solidFill>
              </a:rPr>
              <a:t>narrative insights</a:t>
            </a:r>
            <a:r>
              <a:rPr lang="en-SG" dirty="0"/>
              <a:t>.</a:t>
            </a:r>
          </a:p>
          <a:p>
            <a:pPr algn="l"/>
            <a:endParaRPr lang="en-SG" dirty="0"/>
          </a:p>
          <a:p>
            <a:pPr algn="l"/>
            <a:r>
              <a:rPr lang="en-SG" dirty="0"/>
              <a:t>On simulated BMW sales data (2020-2024)</a:t>
            </a:r>
          </a:p>
          <a:p>
            <a:pPr algn="l"/>
            <a:r>
              <a:rPr lang="en-SG" dirty="0"/>
              <a:t>Leroy Ee</a:t>
            </a:r>
            <a:endParaRPr lang="en-US" dirty="0"/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7807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6B0D99-4484-1411-84FA-E62A50357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0237B6-B010-CDE8-D645-7389D4197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dirty="0">
                <a:solidFill>
                  <a:srgbClr val="FFFFFF"/>
                </a:solidFill>
              </a:rPr>
              <a:t>Approach </a:t>
            </a:r>
            <a:br>
              <a:rPr lang="en-US" sz="8000" dirty="0">
                <a:solidFill>
                  <a:srgbClr val="FFFFFF"/>
                </a:solidFill>
              </a:rPr>
            </a:br>
            <a:r>
              <a:rPr lang="en-US" sz="8000" dirty="0">
                <a:solidFill>
                  <a:srgbClr val="FFFFFF"/>
                </a:solidFill>
              </a:rPr>
              <a:t>(Eng)</a:t>
            </a:r>
            <a:endParaRPr lang="en-US" sz="8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C51D1-EC64-19E3-DD7C-0CD705205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1903" y="2760966"/>
            <a:ext cx="3333364" cy="5457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sz="1600" dirty="0"/>
              <a:t>Project Framework</a:t>
            </a: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F9BF66-D95E-AFE7-5BE5-7B2C559ED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947" y="3008304"/>
            <a:ext cx="1920194" cy="7933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ED4239-0B56-DE7D-736C-03FC553E3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1947" y="4101222"/>
            <a:ext cx="1822853" cy="763263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1762FCF-D406-4D0B-F92A-398A6967991D}"/>
              </a:ext>
            </a:extLst>
          </p:cNvPr>
          <p:cNvSpPr txBox="1">
            <a:spLocks/>
          </p:cNvSpPr>
          <p:nvPr/>
        </p:nvSpPr>
        <p:spPr>
          <a:xfrm>
            <a:off x="4624394" y="3819704"/>
            <a:ext cx="3259205" cy="545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G" sz="1600" dirty="0"/>
              <a:t>Dependency Manager</a:t>
            </a:r>
            <a:endParaRPr lang="en-US" sz="16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DEB0D3A-71A7-9D45-B952-6176E9412C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4056" y="5178848"/>
            <a:ext cx="2073830" cy="538576"/>
          </a:xfrm>
          <a:prstGeom prst="rect">
            <a:avLst/>
          </a:prstGeom>
        </p:spPr>
      </p:pic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EA121A3-94D1-B7C3-7D70-2ACEFDD70FA2}"/>
              </a:ext>
            </a:extLst>
          </p:cNvPr>
          <p:cNvSpPr txBox="1">
            <a:spLocks/>
          </p:cNvSpPr>
          <p:nvPr/>
        </p:nvSpPr>
        <p:spPr>
          <a:xfrm>
            <a:off x="4624394" y="4882138"/>
            <a:ext cx="4197145" cy="545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G" sz="1600" dirty="0"/>
              <a:t>Environment Variables</a:t>
            </a:r>
            <a:endParaRPr lang="en-US" sz="16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3C71564D-9EC8-EB0C-741C-CFFAAE250B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4596" y="2897471"/>
            <a:ext cx="974284" cy="902448"/>
          </a:xfrm>
          <a:prstGeom prst="rect">
            <a:avLst/>
          </a:prstGeom>
        </p:spPr>
      </p:pic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33D594BB-104A-FA51-6F7D-95EAE3ADDACF}"/>
              </a:ext>
            </a:extLst>
          </p:cNvPr>
          <p:cNvSpPr txBox="1">
            <a:spLocks/>
          </p:cNvSpPr>
          <p:nvPr/>
        </p:nvSpPr>
        <p:spPr>
          <a:xfrm>
            <a:off x="6836713" y="2628718"/>
            <a:ext cx="4197145" cy="545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G" sz="1600" dirty="0"/>
              <a:t>Testing Framework</a:t>
            </a:r>
            <a:endParaRPr lang="en-US" sz="16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FBFA805-598E-7539-58E2-9273475465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5105" y="4421608"/>
            <a:ext cx="1921629" cy="704897"/>
          </a:xfrm>
          <a:prstGeom prst="rect">
            <a:avLst/>
          </a:prstGeom>
        </p:spPr>
      </p:pic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B76AA124-6DCD-A6BF-8A5D-4A0E11C2BD61}"/>
              </a:ext>
            </a:extLst>
          </p:cNvPr>
          <p:cNvSpPr txBox="1">
            <a:spLocks/>
          </p:cNvSpPr>
          <p:nvPr/>
        </p:nvSpPr>
        <p:spPr>
          <a:xfrm>
            <a:off x="6962542" y="3804575"/>
            <a:ext cx="4410527" cy="842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G" sz="1600" dirty="0"/>
              <a:t>Data Analysis and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SG" sz="1600" dirty="0"/>
              <a:t>Manipulation</a:t>
            </a:r>
            <a:endParaRPr lang="en-US" sz="16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C03D3C1-4939-9AC2-C531-19CA5485CB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6831" y="5357095"/>
            <a:ext cx="1935098" cy="475917"/>
          </a:xfrm>
          <a:prstGeom prst="rect">
            <a:avLst/>
          </a:prstGeom>
        </p:spPr>
      </p:pic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B85439CD-C4A5-6AAD-998D-9DED7102018C}"/>
              </a:ext>
            </a:extLst>
          </p:cNvPr>
          <p:cNvSpPr txBox="1">
            <a:spLocks/>
          </p:cNvSpPr>
          <p:nvPr/>
        </p:nvSpPr>
        <p:spPr>
          <a:xfrm>
            <a:off x="6965846" y="5117022"/>
            <a:ext cx="4410527" cy="545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G" sz="1600" dirty="0"/>
              <a:t>Data Visualization</a:t>
            </a:r>
            <a:endParaRPr lang="en-US" sz="16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582734A-24D8-E323-27C4-29F71B911F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31513" y="5976197"/>
            <a:ext cx="1598364" cy="677958"/>
          </a:xfrm>
          <a:prstGeom prst="rect">
            <a:avLst/>
          </a:prstGeom>
        </p:spPr>
      </p:pic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D50E13C2-BDE8-8941-C9F3-F7CA55F3F58A}"/>
              </a:ext>
            </a:extLst>
          </p:cNvPr>
          <p:cNvSpPr txBox="1">
            <a:spLocks/>
          </p:cNvSpPr>
          <p:nvPr/>
        </p:nvSpPr>
        <p:spPr>
          <a:xfrm>
            <a:off x="4738141" y="5709097"/>
            <a:ext cx="4197145" cy="545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G" sz="1600" dirty="0"/>
              <a:t>SQL toolkit</a:t>
            </a:r>
            <a:endParaRPr lang="en-US" sz="16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F1B890E-D8C4-0216-7499-0D1C6DCC2C76}"/>
              </a:ext>
            </a:extLst>
          </p:cNvPr>
          <p:cNvSpPr/>
          <p:nvPr/>
        </p:nvSpPr>
        <p:spPr>
          <a:xfrm>
            <a:off x="8941339" y="4557215"/>
            <a:ext cx="2960791" cy="2062245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2F2257-2E6C-0B0B-C612-7783513EB70B}"/>
              </a:ext>
            </a:extLst>
          </p:cNvPr>
          <p:cNvSpPr txBox="1"/>
          <p:nvPr/>
        </p:nvSpPr>
        <p:spPr>
          <a:xfrm>
            <a:off x="8952500" y="4557215"/>
            <a:ext cx="30009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400" dirty="0"/>
              <a:t>If I managed to finish SQL Agent and </a:t>
            </a:r>
          </a:p>
          <a:p>
            <a:r>
              <a:rPr lang="en-SG" sz="1400" dirty="0"/>
              <a:t>Evaluation Framework</a:t>
            </a:r>
            <a:endParaRPr lang="en-US" sz="1400" dirty="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6966A9B9-3C0C-445C-CC8C-5E6570C6FFA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0520" y="5080435"/>
            <a:ext cx="2210939" cy="64721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9D9FFE5F-6B47-0708-61E8-7CB048743CC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84141" y="5824555"/>
            <a:ext cx="2187318" cy="689737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563F44D4-4626-C4C9-77D1-F61FF7901FC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4545" y="6136624"/>
            <a:ext cx="2321220" cy="502856"/>
          </a:xfrm>
          <a:prstGeom prst="rect">
            <a:avLst/>
          </a:prstGeom>
        </p:spPr>
      </p:pic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8BC1BF60-A0F0-28E3-ACF1-8D8BCB4FBCD7}"/>
              </a:ext>
            </a:extLst>
          </p:cNvPr>
          <p:cNvSpPr txBox="1">
            <a:spLocks/>
          </p:cNvSpPr>
          <p:nvPr/>
        </p:nvSpPr>
        <p:spPr>
          <a:xfrm>
            <a:off x="6655269" y="5842324"/>
            <a:ext cx="4410527" cy="5457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SG" sz="1600" dirty="0"/>
              <a:t>Large Language Model</a:t>
            </a:r>
            <a:endParaRPr lang="en-US" sz="16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04041F6-6D88-A24B-F797-A6DC57E1FF4C}"/>
              </a:ext>
            </a:extLst>
          </p:cNvPr>
          <p:cNvSpPr txBox="1"/>
          <p:nvPr/>
        </p:nvSpPr>
        <p:spPr>
          <a:xfrm>
            <a:off x="872304" y="255989"/>
            <a:ext cx="3769449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/>
              <a:t>Clean, Easy to Read Code</a:t>
            </a:r>
          </a:p>
          <a:p>
            <a:pPr marL="285750" indent="-285750">
              <a:buFontTx/>
              <a:buChar char="-"/>
            </a:pPr>
            <a:r>
              <a:rPr lang="en-SG" sz="1600" dirty="0"/>
              <a:t>Function and Document level </a:t>
            </a:r>
            <a:r>
              <a:rPr lang="en-SG" sz="1600" dirty="0">
                <a:solidFill>
                  <a:srgbClr val="FFC000"/>
                </a:solidFill>
              </a:rPr>
              <a:t>docstrings</a:t>
            </a:r>
            <a:r>
              <a:rPr lang="en-SG" sz="1600" dirty="0"/>
              <a:t> for readability</a:t>
            </a:r>
          </a:p>
          <a:p>
            <a:pPr marL="285750" indent="-285750">
              <a:buFontTx/>
              <a:buChar char="-"/>
            </a:pPr>
            <a:r>
              <a:rPr lang="en-SG" sz="1600" dirty="0">
                <a:solidFill>
                  <a:srgbClr val="FFC000"/>
                </a:solidFill>
              </a:rPr>
              <a:t>Descriptive</a:t>
            </a:r>
            <a:r>
              <a:rPr lang="en-SG" sz="1600" dirty="0"/>
              <a:t> variables, short functions</a:t>
            </a:r>
          </a:p>
          <a:p>
            <a:pPr marL="285750" indent="-285750">
              <a:buFontTx/>
              <a:buChar char="-"/>
            </a:pPr>
            <a:r>
              <a:rPr lang="en-SG" sz="1600" dirty="0"/>
              <a:t>Comments communicate </a:t>
            </a:r>
            <a:r>
              <a:rPr lang="en-SG" sz="1600" dirty="0">
                <a:solidFill>
                  <a:srgbClr val="FFC000"/>
                </a:solidFill>
              </a:rPr>
              <a:t>intent</a:t>
            </a:r>
            <a:r>
              <a:rPr lang="en-SG" sz="1600" dirty="0"/>
              <a:t> rather than describing the code</a:t>
            </a:r>
          </a:p>
          <a:p>
            <a:pPr marL="285750" indent="-285750">
              <a:buFontTx/>
              <a:buChar char="-"/>
            </a:pPr>
            <a:r>
              <a:rPr lang="en-SG" sz="1600" dirty="0" err="1">
                <a:solidFill>
                  <a:srgbClr val="FFC000"/>
                </a:solidFill>
              </a:rPr>
              <a:t>Pytested</a:t>
            </a:r>
            <a:r>
              <a:rPr lang="en-SG" sz="1600" dirty="0"/>
              <a:t> code</a:t>
            </a:r>
          </a:p>
          <a:p>
            <a:endParaRPr lang="en-SG" sz="1600" dirty="0"/>
          </a:p>
          <a:p>
            <a:r>
              <a:rPr lang="en-SG" sz="1600" b="1" dirty="0"/>
              <a:t>Configurable</a:t>
            </a:r>
            <a:r>
              <a:rPr lang="en-SG" sz="1600" dirty="0"/>
              <a:t> </a:t>
            </a:r>
          </a:p>
          <a:p>
            <a:pPr marL="285750" indent="-285750">
              <a:buFontTx/>
              <a:buChar char="-"/>
            </a:pPr>
            <a:r>
              <a:rPr lang="en-SG" sz="1600" dirty="0"/>
              <a:t>Pipeline and node behaviour </a:t>
            </a:r>
            <a:r>
              <a:rPr lang="en-SG" sz="1600" dirty="0">
                <a:solidFill>
                  <a:srgbClr val="FFC000"/>
                </a:solidFill>
              </a:rPr>
              <a:t>togglable</a:t>
            </a:r>
            <a:r>
              <a:rPr lang="en-SG" sz="1600" dirty="0"/>
              <a:t> via config files</a:t>
            </a:r>
          </a:p>
          <a:p>
            <a:endParaRPr lang="en-SG" sz="1600" dirty="0"/>
          </a:p>
          <a:p>
            <a:r>
              <a:rPr lang="en-SG" sz="1600" b="1" dirty="0"/>
              <a:t>Clear Documentation</a:t>
            </a:r>
          </a:p>
          <a:p>
            <a:pPr marL="285750" indent="-285750">
              <a:buFontTx/>
              <a:buChar char="-"/>
            </a:pPr>
            <a:r>
              <a:rPr lang="en-SG" sz="1600" dirty="0"/>
              <a:t>Clear </a:t>
            </a:r>
            <a:r>
              <a:rPr lang="en-SG" sz="1600" dirty="0">
                <a:solidFill>
                  <a:srgbClr val="FFC000"/>
                </a:solidFill>
              </a:rPr>
              <a:t>instructions</a:t>
            </a:r>
            <a:r>
              <a:rPr lang="en-SG" sz="1600" dirty="0"/>
              <a:t> for using the repository</a:t>
            </a:r>
          </a:p>
          <a:p>
            <a:endParaRPr lang="en-SG" sz="1600" dirty="0"/>
          </a:p>
          <a:p>
            <a:r>
              <a:rPr lang="en-SG" sz="1600" b="1" dirty="0"/>
              <a:t>Clear Organization</a:t>
            </a:r>
          </a:p>
          <a:p>
            <a:pPr marL="285750" indent="-285750">
              <a:buFontTx/>
              <a:buChar char="-"/>
            </a:pPr>
            <a:r>
              <a:rPr lang="en-SG" sz="1600" dirty="0"/>
              <a:t>Files appropriately located in </a:t>
            </a:r>
            <a:r>
              <a:rPr lang="en-SG" sz="1600" dirty="0" err="1">
                <a:solidFill>
                  <a:srgbClr val="FFC000"/>
                </a:solidFill>
              </a:rPr>
              <a:t>Kedro</a:t>
            </a:r>
            <a:r>
              <a:rPr lang="en-SG" sz="1600" dirty="0"/>
              <a:t> boilerplate config, </a:t>
            </a:r>
            <a:r>
              <a:rPr lang="en-SG" sz="1600" dirty="0" err="1"/>
              <a:t>src</a:t>
            </a:r>
            <a:r>
              <a:rPr lang="en-SG" sz="1600" dirty="0"/>
              <a:t>, data, test and other folders</a:t>
            </a:r>
          </a:p>
          <a:p>
            <a:pPr marL="285750" indent="-285750">
              <a:buFontTx/>
              <a:buChar char="-"/>
            </a:pPr>
            <a:r>
              <a:rPr lang="en-SG" sz="1600" dirty="0"/>
              <a:t>Python files divided into </a:t>
            </a:r>
            <a:r>
              <a:rPr lang="en-SG" sz="1600" dirty="0">
                <a:solidFill>
                  <a:srgbClr val="FFC000"/>
                </a:solidFill>
              </a:rPr>
              <a:t>sections</a:t>
            </a:r>
            <a:r>
              <a:rPr lang="en-SG" sz="1600" dirty="0"/>
              <a:t> for clarity</a:t>
            </a:r>
          </a:p>
          <a:p>
            <a:pPr marL="285750" indent="-285750">
              <a:buFontTx/>
              <a:buChar char="-"/>
            </a:pPr>
            <a:endParaRPr lang="en-SG" sz="1600" dirty="0"/>
          </a:p>
          <a:p>
            <a:r>
              <a:rPr lang="en-SG" sz="1600" b="1" dirty="0"/>
              <a:t>Managed Dependencies</a:t>
            </a:r>
          </a:p>
          <a:p>
            <a:pPr marL="285750" indent="-285750">
              <a:buFontTx/>
              <a:buChar char="-"/>
            </a:pPr>
            <a:r>
              <a:rPr lang="en-SG" sz="1600" dirty="0"/>
              <a:t>Easily manage dependencies with </a:t>
            </a:r>
            <a:r>
              <a:rPr lang="en-SG" sz="1600" dirty="0">
                <a:solidFill>
                  <a:srgbClr val="FFC000"/>
                </a:solidFill>
              </a:rPr>
              <a:t>PDM</a:t>
            </a:r>
            <a:endParaRPr lang="en-SG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C1F0045-5E85-0E3A-D55B-702983EE4685}"/>
              </a:ext>
            </a:extLst>
          </p:cNvPr>
          <p:cNvSpPr txBox="1"/>
          <p:nvPr/>
        </p:nvSpPr>
        <p:spPr>
          <a:xfrm>
            <a:off x="4695934" y="2001755"/>
            <a:ext cx="21950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3200" b="1" dirty="0"/>
              <a:t>Tech Stack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21349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62D38D-3E1A-AFE6-8A05-E29D9F02F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Approach</a:t>
            </a:r>
            <a:b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(DS)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065D47-03DA-5D70-D63F-BB2527EDFF5F}"/>
              </a:ext>
            </a:extLst>
          </p:cNvPr>
          <p:cNvSpPr txBox="1"/>
          <p:nvPr/>
        </p:nvSpPr>
        <p:spPr>
          <a:xfrm>
            <a:off x="562863" y="781182"/>
            <a:ext cx="4015448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dirty="0"/>
              <a:t>Main Idea</a:t>
            </a:r>
          </a:p>
          <a:p>
            <a:r>
              <a:rPr lang="en-SG" sz="1600" dirty="0"/>
              <a:t>Inject data (</a:t>
            </a:r>
            <a:r>
              <a:rPr lang="en-SG" sz="1600" dirty="0" err="1"/>
              <a:t>json</a:t>
            </a:r>
            <a:r>
              <a:rPr lang="en-SG" sz="1600" dirty="0"/>
              <a:t>) into the prompt (str) of an LLM which outputs a </a:t>
            </a:r>
            <a:r>
              <a:rPr lang="en-SG" sz="1600" dirty="0" err="1"/>
              <a:t>json</a:t>
            </a:r>
            <a:r>
              <a:rPr lang="en-SG" sz="1600" dirty="0"/>
              <a:t> that can be used to generate plots and the report.</a:t>
            </a:r>
          </a:p>
          <a:p>
            <a:endParaRPr lang="en-SG" sz="1600" dirty="0"/>
          </a:p>
          <a:p>
            <a:r>
              <a:rPr lang="en-SG" sz="1600" dirty="0"/>
              <a:t>Performed initial </a:t>
            </a:r>
            <a:r>
              <a:rPr lang="en-SG" sz="1600" dirty="0">
                <a:solidFill>
                  <a:srgbClr val="FFC000"/>
                </a:solidFill>
              </a:rPr>
              <a:t>Exploratory Data Analysis </a:t>
            </a:r>
            <a:r>
              <a:rPr lang="en-SG" sz="1600" dirty="0"/>
              <a:t>to get a better understanding of the dataset and an idea of what the LLM is supposed to pick up.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4B5FDE-10CE-740C-20BF-E061D00C3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012" y="3145226"/>
            <a:ext cx="9588310" cy="352056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A0E77D2-3030-80DD-C3A4-6A480051392A}"/>
              </a:ext>
            </a:extLst>
          </p:cNvPr>
          <p:cNvSpPr txBox="1"/>
          <p:nvPr/>
        </p:nvSpPr>
        <p:spPr>
          <a:xfrm>
            <a:off x="4618398" y="1827629"/>
            <a:ext cx="37362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>
                <a:solidFill>
                  <a:srgbClr val="FFC000"/>
                </a:solidFill>
              </a:rPr>
              <a:t>Feature engineered </a:t>
            </a:r>
            <a:r>
              <a:rPr lang="en-SG" sz="1600" dirty="0"/>
              <a:t>aggregate sub-tables of the main data table were created in an effort to </a:t>
            </a:r>
            <a:r>
              <a:rPr lang="en-SG" sz="1600" dirty="0">
                <a:solidFill>
                  <a:srgbClr val="FFC000"/>
                </a:solidFill>
              </a:rPr>
              <a:t>reduce </a:t>
            </a:r>
            <a:r>
              <a:rPr lang="en-SG" sz="1600" dirty="0"/>
              <a:t>the</a:t>
            </a:r>
            <a:r>
              <a:rPr lang="en-SG" sz="1600" dirty="0">
                <a:solidFill>
                  <a:srgbClr val="FFC000"/>
                </a:solidFill>
              </a:rPr>
              <a:t> number of tokens</a:t>
            </a:r>
            <a:r>
              <a:rPr lang="en-SG" sz="1600" dirty="0"/>
              <a:t> required for this method.</a:t>
            </a:r>
            <a:endParaRPr lang="en-SG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55B0C7-9CA6-0AA4-3D56-8E58F75CBA22}"/>
              </a:ext>
            </a:extLst>
          </p:cNvPr>
          <p:cNvSpPr txBox="1"/>
          <p:nvPr/>
        </p:nvSpPr>
        <p:spPr>
          <a:xfrm>
            <a:off x="9438927" y="2790104"/>
            <a:ext cx="1397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solidFill>
                  <a:srgbClr val="FFC000"/>
                </a:solidFill>
              </a:rPr>
              <a:t>Lightweight</a:t>
            </a:r>
            <a:endParaRPr lang="en-US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9228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FA8AC3-A491-00B1-18AC-C99E8C16A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AEF7F1B-A6D4-93AF-CF31-5545D7864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113F48-66A0-C360-7502-09FF951BC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Processing</a:t>
            </a:r>
            <a:b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Pipeline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703C5890-270E-D299-0385-78D6ABEC3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B49872C4-3618-F676-04A0-1046B856A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FD56AD1D-4ED4-824B-A7F7-BFA984FC74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FEC6FE3-444B-7EE4-2CD6-1487ED6CC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93A87E84-5C7B-DE2F-9828-485581632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A0082B94-E97F-B18A-6D87-2EC0E96CF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F1E6DE70-A0BE-9821-CDF4-BDE86594E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D0E801-9194-8292-A4BA-B20C1B394D62}"/>
              </a:ext>
            </a:extLst>
          </p:cNvPr>
          <p:cNvSpPr txBox="1"/>
          <p:nvPr/>
        </p:nvSpPr>
        <p:spPr>
          <a:xfrm>
            <a:off x="1051328" y="1515715"/>
            <a:ext cx="362087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b="1" dirty="0"/>
              <a:t>Features</a:t>
            </a:r>
          </a:p>
          <a:p>
            <a:pPr marL="342900" indent="-342900">
              <a:buFontTx/>
              <a:buChar char="-"/>
            </a:pPr>
            <a:r>
              <a:rPr lang="en-SG" dirty="0"/>
              <a:t>Checks for missing values in case data is incomplete. </a:t>
            </a:r>
            <a:r>
              <a:rPr lang="en-SG" dirty="0">
                <a:solidFill>
                  <a:srgbClr val="FFC000"/>
                </a:solidFill>
              </a:rPr>
              <a:t>Highlights</a:t>
            </a:r>
            <a:r>
              <a:rPr lang="en-SG" dirty="0"/>
              <a:t> in the report if it is past acceptable levels.</a:t>
            </a:r>
          </a:p>
          <a:p>
            <a:pPr marL="342900" indent="-342900">
              <a:buFontTx/>
              <a:buChar char="-"/>
            </a:pPr>
            <a:endParaRPr lang="en-SG" sz="2000" dirty="0"/>
          </a:p>
          <a:p>
            <a:endParaRPr lang="en-SG" sz="1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CBDC429-2E15-8B72-E28D-CEB66190CE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3593"/>
          <a:stretch>
            <a:fillRect/>
          </a:stretch>
        </p:blipFill>
        <p:spPr>
          <a:xfrm>
            <a:off x="1150012" y="3145226"/>
            <a:ext cx="3490770" cy="352056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5DE9FFF-99F7-4EC1-5278-6F83DCB317C9}"/>
              </a:ext>
            </a:extLst>
          </p:cNvPr>
          <p:cNvSpPr txBox="1"/>
          <p:nvPr/>
        </p:nvSpPr>
        <p:spPr>
          <a:xfrm>
            <a:off x="4672202" y="3000867"/>
            <a:ext cx="325897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SG" dirty="0">
                <a:solidFill>
                  <a:srgbClr val="FFC000"/>
                </a:solidFill>
              </a:rPr>
              <a:t>Calculate</a:t>
            </a:r>
            <a:r>
              <a:rPr lang="en-SG" dirty="0"/>
              <a:t> important columns of interest like fuel efficiency and revenue.</a:t>
            </a:r>
          </a:p>
          <a:p>
            <a:pPr marL="285750" indent="-285750">
              <a:buFontTx/>
              <a:buChar char="-"/>
            </a:pPr>
            <a:r>
              <a:rPr lang="en-SG" dirty="0">
                <a:solidFill>
                  <a:srgbClr val="FFC000"/>
                </a:solidFill>
              </a:rPr>
              <a:t>Bin</a:t>
            </a:r>
            <a:r>
              <a:rPr lang="en-SG" dirty="0"/>
              <a:t> “continuous” numeric features into classes for easier aggregating</a:t>
            </a:r>
          </a:p>
          <a:p>
            <a:pPr marL="285750" indent="-285750">
              <a:buFontTx/>
              <a:buChar char="-"/>
            </a:pPr>
            <a:r>
              <a:rPr lang="en-SG" dirty="0">
                <a:solidFill>
                  <a:srgbClr val="FFC000"/>
                </a:solidFill>
              </a:rPr>
              <a:t>Drop rows </a:t>
            </a:r>
            <a:r>
              <a:rPr lang="en-SG" dirty="0"/>
              <a:t>without target columns (sales volume and revenue) as they don’t provide useful information.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E331DF-A7EB-1E79-ECC3-23211C46DFF1}"/>
              </a:ext>
            </a:extLst>
          </p:cNvPr>
          <p:cNvSpPr txBox="1"/>
          <p:nvPr/>
        </p:nvSpPr>
        <p:spPr>
          <a:xfrm>
            <a:off x="7829203" y="3000867"/>
            <a:ext cx="35203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G" dirty="0">
                <a:solidFill>
                  <a:schemeClr val="bg1"/>
                </a:solidFill>
              </a:rPr>
              <a:t>Data Processing is important in this approach as the data is large would contribute to large token use. Summarized statistics are </a:t>
            </a:r>
            <a:r>
              <a:rPr lang="en-SG" dirty="0">
                <a:solidFill>
                  <a:srgbClr val="FFC000"/>
                </a:solidFill>
              </a:rPr>
              <a:t>sufficient</a:t>
            </a:r>
            <a:r>
              <a:rPr lang="en-SG" dirty="0">
                <a:solidFill>
                  <a:schemeClr val="bg1"/>
                </a:solidFill>
              </a:rPr>
              <a:t> for insights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037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37DA8E-5267-E8EB-1E61-96DD3F205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21F741F-29BA-C3CB-2A30-879476A357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A1F8F4-B620-3AB1-DCE3-9921CFCE2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Invoke LLM</a:t>
            </a:r>
            <a:b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Pipeline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9BB68173-D873-1CED-C43E-9ED6C209E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E0138522-4C07-10EC-B77A-260C40805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B19FE53D-54C3-A68F-D81C-82256FB897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BBC077-75C3-07C9-3DB6-25304CFD8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B4E22DBC-62C0-713D-AE76-368723876C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50AA876B-D9E9-90C4-0B4C-666592DAD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97A5B5C8-7E7F-5AF5-79DF-16508C8AC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7295ADE-8AE9-FF7A-3B4A-6858997AC3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586" r="23247"/>
          <a:stretch>
            <a:fillRect/>
          </a:stretch>
        </p:blipFill>
        <p:spPr>
          <a:xfrm>
            <a:off x="3315644" y="3145226"/>
            <a:ext cx="5193637" cy="35205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15911B4-FE0E-EE70-A310-0B03B4B0D034}"/>
              </a:ext>
            </a:extLst>
          </p:cNvPr>
          <p:cNvSpPr txBox="1"/>
          <p:nvPr/>
        </p:nvSpPr>
        <p:spPr>
          <a:xfrm>
            <a:off x="208881" y="194538"/>
            <a:ext cx="432966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dirty="0"/>
              <a:t>Prompt Engineering</a:t>
            </a:r>
          </a:p>
          <a:p>
            <a:pPr marL="285750" indent="-285750">
              <a:buFontTx/>
              <a:buChar char="-"/>
            </a:pPr>
            <a:r>
              <a:rPr lang="en-SG" dirty="0"/>
              <a:t>Set the </a:t>
            </a:r>
            <a:r>
              <a:rPr lang="en-SG" dirty="0">
                <a:solidFill>
                  <a:srgbClr val="FFC000"/>
                </a:solidFill>
              </a:rPr>
              <a:t>role</a:t>
            </a:r>
            <a:r>
              <a:rPr lang="en-SG" dirty="0"/>
              <a:t> of the LLM</a:t>
            </a:r>
          </a:p>
          <a:p>
            <a:pPr marL="285750" indent="-285750">
              <a:buFontTx/>
              <a:buChar char="-"/>
            </a:pPr>
            <a:r>
              <a:rPr lang="en-US" dirty="0"/>
              <a:t>Provide clear </a:t>
            </a:r>
            <a:r>
              <a:rPr lang="en-US" dirty="0">
                <a:solidFill>
                  <a:srgbClr val="FFC000"/>
                </a:solidFill>
              </a:rPr>
              <a:t>task</a:t>
            </a:r>
            <a:r>
              <a:rPr lang="en-US" dirty="0"/>
              <a:t> instructions</a:t>
            </a:r>
          </a:p>
          <a:p>
            <a:pPr marL="285750" indent="-285750">
              <a:buFontTx/>
              <a:buChar char="-"/>
            </a:pPr>
            <a:r>
              <a:rPr lang="en-US" dirty="0"/>
              <a:t>Requested </a:t>
            </a:r>
            <a:r>
              <a:rPr lang="en-US" dirty="0">
                <a:solidFill>
                  <a:srgbClr val="FFC000"/>
                </a:solidFill>
              </a:rPr>
              <a:t>structured output </a:t>
            </a:r>
            <a:r>
              <a:rPr lang="en-US" dirty="0"/>
              <a:t>format (JSON)</a:t>
            </a:r>
          </a:p>
          <a:p>
            <a:pPr marL="285750" indent="-285750">
              <a:buFontTx/>
              <a:buChar char="-"/>
            </a:pPr>
            <a:r>
              <a:rPr lang="en-US" dirty="0"/>
              <a:t>Provided </a:t>
            </a:r>
            <a:r>
              <a:rPr lang="en-US" dirty="0">
                <a:solidFill>
                  <a:srgbClr val="FFC000"/>
                </a:solidFill>
              </a:rPr>
              <a:t>schema</a:t>
            </a:r>
            <a:r>
              <a:rPr lang="en-US" dirty="0"/>
              <a:t> of the output format</a:t>
            </a:r>
          </a:p>
          <a:p>
            <a:pPr marL="285750" indent="-285750">
              <a:buFontTx/>
              <a:buChar char="-"/>
            </a:pPr>
            <a:r>
              <a:rPr lang="en-US" dirty="0"/>
              <a:t>Provided structured data (</a:t>
            </a:r>
            <a:r>
              <a:rPr lang="en-US" dirty="0">
                <a:solidFill>
                  <a:srgbClr val="FFC000"/>
                </a:solidFill>
              </a:rPr>
              <a:t>context</a:t>
            </a:r>
            <a:r>
              <a:rPr lang="en-US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rgbClr val="FFC000"/>
                </a:solidFill>
              </a:rPr>
              <a:t>Named</a:t>
            </a:r>
            <a:r>
              <a:rPr lang="en-US" dirty="0"/>
              <a:t> data input for each sub-table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019ED6-E49F-761C-C680-AE4044165F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9690"/>
          <a:stretch>
            <a:fillRect/>
          </a:stretch>
        </p:blipFill>
        <p:spPr>
          <a:xfrm>
            <a:off x="10906" y="2406596"/>
            <a:ext cx="3015347" cy="13482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14E4CD-07DA-3550-8C4C-297934480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6" y="3754833"/>
            <a:ext cx="3015347" cy="30462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BDBB22-B924-DADD-6493-87BDB6F6BF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6313" y="2575400"/>
            <a:ext cx="3071949" cy="419369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D167582-7275-9314-78A4-A0758597C8D9}"/>
              </a:ext>
            </a:extLst>
          </p:cNvPr>
          <p:cNvSpPr txBox="1"/>
          <p:nvPr/>
        </p:nvSpPr>
        <p:spPr>
          <a:xfrm>
            <a:off x="4832444" y="2454712"/>
            <a:ext cx="15690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Single Prompt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93D2877-6B25-341A-995A-FED7951089F9}"/>
              </a:ext>
            </a:extLst>
          </p:cNvPr>
          <p:cNvCxnSpPr/>
          <p:nvPr/>
        </p:nvCxnSpPr>
        <p:spPr>
          <a:xfrm>
            <a:off x="3026253" y="6665786"/>
            <a:ext cx="14956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1B249075-01E7-EB18-05E1-E8F062AF3086}"/>
              </a:ext>
            </a:extLst>
          </p:cNvPr>
          <p:cNvCxnSpPr/>
          <p:nvPr/>
        </p:nvCxnSpPr>
        <p:spPr>
          <a:xfrm>
            <a:off x="3175819" y="2765052"/>
            <a:ext cx="5600494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D5B6B7B-A8FA-0AB4-1ED3-ACBA6F2B10F4}"/>
              </a:ext>
            </a:extLst>
          </p:cNvPr>
          <p:cNvCxnSpPr/>
          <p:nvPr/>
        </p:nvCxnSpPr>
        <p:spPr>
          <a:xfrm>
            <a:off x="3175819" y="2753032"/>
            <a:ext cx="0" cy="391275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402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98CD02-7B19-8946-D6B3-695D4E232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970768-8532-3954-1F27-9741D61C6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5726E7-B100-0577-D326-D995EAE15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Generate Report</a:t>
            </a:r>
            <a:b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Pipeline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34396CDA-211C-1D9D-435D-5746C41B8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6B98FD1F-1886-1400-2885-3814AEE72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899CCE7A-187F-3E73-01DC-FF3CDD0F2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D1B21CF-7DB0-50A3-FA68-7B926E58C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7964B918-D956-A343-7A40-BF6954C8A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6DCDCA9-0F7B-E808-DC95-5F04798BF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060BF914-143C-929F-8E7C-4DB914CFD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262B896-2E12-3612-96EF-5F8C9023A7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684"/>
          <a:stretch>
            <a:fillRect/>
          </a:stretch>
        </p:blipFill>
        <p:spPr>
          <a:xfrm>
            <a:off x="7256206" y="3145226"/>
            <a:ext cx="3482115" cy="352056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24A2386-1F8E-110B-BE77-6CED4722462B}"/>
              </a:ext>
            </a:extLst>
          </p:cNvPr>
          <p:cNvSpPr txBox="1"/>
          <p:nvPr/>
        </p:nvSpPr>
        <p:spPr>
          <a:xfrm>
            <a:off x="1746443" y="2030653"/>
            <a:ext cx="37362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dirty="0"/>
              <a:t>md Report generated from output </a:t>
            </a:r>
            <a:r>
              <a:rPr lang="en-SG" sz="1600" dirty="0" err="1"/>
              <a:t>json</a:t>
            </a:r>
            <a:endParaRPr lang="en-SG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2D1305-6997-B393-0029-62291754F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2639810"/>
            <a:ext cx="3301421" cy="42093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4B5253-B2EF-3190-D5B7-7A9CB00462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8713" y="2693179"/>
            <a:ext cx="3903854" cy="4164821"/>
          </a:xfrm>
          <a:prstGeom prst="rect">
            <a:avLst/>
          </a:prstGeom>
        </p:spPr>
      </p:pic>
      <p:sp>
        <p:nvSpPr>
          <p:cNvPr id="13" name="Arrow: Curved Down 12">
            <a:extLst>
              <a:ext uri="{FF2B5EF4-FFF2-40B4-BE49-F238E27FC236}">
                <a16:creationId xmlns:a16="http://schemas.microsoft.com/office/drawing/2014/main" id="{81BEDCFE-3B1C-6F23-8530-9AB348EFECEC}"/>
              </a:ext>
            </a:extLst>
          </p:cNvPr>
          <p:cNvSpPr/>
          <p:nvPr/>
        </p:nvSpPr>
        <p:spPr>
          <a:xfrm>
            <a:off x="2903543" y="2369207"/>
            <a:ext cx="795757" cy="265999"/>
          </a:xfrm>
          <a:prstGeom prst="curvedDownArrow">
            <a:avLst>
              <a:gd name="adj1" fmla="val 0"/>
              <a:gd name="adj2" fmla="val 35058"/>
              <a:gd name="adj3" fmla="val 28696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888C8C-6FEB-5EA9-8CB4-0DA26D5E1BFE}"/>
              </a:ext>
            </a:extLst>
          </p:cNvPr>
          <p:cNvSpPr txBox="1"/>
          <p:nvPr/>
        </p:nvSpPr>
        <p:spPr>
          <a:xfrm>
            <a:off x="226142" y="471948"/>
            <a:ext cx="32326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C000"/>
                </a:solidFill>
              </a:rPr>
              <a:t>Structured</a:t>
            </a:r>
            <a:r>
              <a:rPr lang="en-SG" dirty="0"/>
              <a:t> output allows for easy isolation of each section.</a:t>
            </a:r>
          </a:p>
          <a:p>
            <a:endParaRPr lang="en-SG" dirty="0"/>
          </a:p>
          <a:p>
            <a:r>
              <a:rPr lang="en-SG" dirty="0">
                <a:solidFill>
                  <a:srgbClr val="FFC000"/>
                </a:solidFill>
              </a:rPr>
              <a:t>Executes</a:t>
            </a:r>
            <a:r>
              <a:rPr lang="en-SG" dirty="0"/>
              <a:t> python snippet found in LLM output to generate plots.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0657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785518-6546-34F8-9813-B5EB82658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Results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056A6E-4624-362D-C913-22FC47038A3A}"/>
              </a:ext>
            </a:extLst>
          </p:cNvPr>
          <p:cNvSpPr txBox="1"/>
          <p:nvPr/>
        </p:nvSpPr>
        <p:spPr>
          <a:xfrm>
            <a:off x="7652966" y="1717451"/>
            <a:ext cx="377433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</a:rPr>
              <a:t>Generated report highlights </a:t>
            </a:r>
            <a:r>
              <a:rPr lang="en-SG" dirty="0">
                <a:solidFill>
                  <a:srgbClr val="FFC000"/>
                </a:solidFill>
              </a:rPr>
              <a:t>similar</a:t>
            </a:r>
            <a:r>
              <a:rPr lang="en-SG" dirty="0">
                <a:solidFill>
                  <a:schemeClr val="bg1"/>
                </a:solidFill>
              </a:rPr>
              <a:t> findings during </a:t>
            </a:r>
            <a:r>
              <a:rPr lang="en-SG" dirty="0">
                <a:solidFill>
                  <a:srgbClr val="FFC000"/>
                </a:solidFill>
              </a:rPr>
              <a:t>EDA</a:t>
            </a:r>
            <a:r>
              <a:rPr lang="en-SG" dirty="0">
                <a:solidFill>
                  <a:schemeClr val="bg1"/>
                </a:solidFill>
              </a:rPr>
              <a:t>. It also managed to </a:t>
            </a:r>
            <a:r>
              <a:rPr lang="en-SG" dirty="0">
                <a:solidFill>
                  <a:srgbClr val="FFC000"/>
                </a:solidFill>
              </a:rPr>
              <a:t>choose</a:t>
            </a:r>
            <a:r>
              <a:rPr lang="en-SG" dirty="0">
                <a:solidFill>
                  <a:schemeClr val="bg1"/>
                </a:solidFill>
              </a:rPr>
              <a:t> the features that showed the largest differences in sales volume and/or revenue when tasked to highlight key sales drivers.</a:t>
            </a:r>
          </a:p>
          <a:p>
            <a:endParaRPr lang="en-SG" dirty="0">
              <a:solidFill>
                <a:schemeClr val="bg1"/>
              </a:solidFill>
            </a:endParaRPr>
          </a:p>
          <a:p>
            <a:r>
              <a:rPr lang="en-SG" dirty="0">
                <a:solidFill>
                  <a:schemeClr val="bg1"/>
                </a:solidFill>
              </a:rPr>
              <a:t>*Might need to refine the prompt regarding choice of colour.</a:t>
            </a:r>
            <a:endParaRPr lang="en-US" dirty="0">
              <a:solidFill>
                <a:schemeClr val="bg1"/>
              </a:solidFill>
            </a:endParaRPr>
          </a:p>
          <a:p>
            <a:endParaRPr lang="en-SG" dirty="0">
              <a:solidFill>
                <a:schemeClr val="bg1"/>
              </a:solidFill>
            </a:endParaRPr>
          </a:p>
          <a:p>
            <a:r>
              <a:rPr lang="en-SG" dirty="0">
                <a:solidFill>
                  <a:schemeClr val="bg1"/>
                </a:solidFill>
              </a:rPr>
              <a:t>LLM output able to </a:t>
            </a:r>
            <a:r>
              <a:rPr lang="en-SG" dirty="0">
                <a:solidFill>
                  <a:srgbClr val="FFC000"/>
                </a:solidFill>
              </a:rPr>
              <a:t>follow </a:t>
            </a:r>
            <a:r>
              <a:rPr lang="en-SG" dirty="0" err="1">
                <a:solidFill>
                  <a:srgbClr val="FFC000"/>
                </a:solidFill>
              </a:rPr>
              <a:t>json</a:t>
            </a:r>
            <a:r>
              <a:rPr lang="en-SG" dirty="0">
                <a:solidFill>
                  <a:srgbClr val="FFC000"/>
                </a:solidFill>
              </a:rPr>
              <a:t> structure consistently </a:t>
            </a:r>
            <a:r>
              <a:rPr lang="en-SG" dirty="0">
                <a:solidFill>
                  <a:schemeClr val="bg1"/>
                </a:solidFill>
              </a:rPr>
              <a:t>but “python-snippet” when executing code for plotting graphs have a </a:t>
            </a:r>
            <a:r>
              <a:rPr lang="en-SG" dirty="0">
                <a:solidFill>
                  <a:srgbClr val="C00000"/>
                </a:solidFill>
              </a:rPr>
              <a:t>chance to fail</a:t>
            </a:r>
            <a:r>
              <a:rPr lang="en-SG" dirty="0">
                <a:solidFill>
                  <a:schemeClr val="bg1"/>
                </a:solidFill>
              </a:rPr>
              <a:t>. To continue to explore other methods or regenerating framework.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1680AA7-7C63-8E96-F52B-F3BF822034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24" t="2574" r="3509" b="3907"/>
          <a:stretch>
            <a:fillRect/>
          </a:stretch>
        </p:blipFill>
        <p:spPr>
          <a:xfrm>
            <a:off x="856114" y="139658"/>
            <a:ext cx="2916422" cy="21688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F2C9BA0-4460-6445-5BF9-1E29761F7D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802" y="124189"/>
            <a:ext cx="3657230" cy="21997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D01708-7525-18A5-774C-B02D2C8B35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0429" y="2363782"/>
            <a:ext cx="3644603" cy="219979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B7662F6-906C-C4E9-65A3-5FFC9ED292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114" y="2407084"/>
            <a:ext cx="2916422" cy="216885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3760952-8C8D-FF78-12AE-292C2A14E9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8708" y="4575942"/>
            <a:ext cx="3668163" cy="219979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4C0F7E6-1D4C-08C1-37E7-7C9A5247ED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743" y="4619005"/>
            <a:ext cx="2919617" cy="2168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785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3A206B-BA54-1032-1879-94DCA2F96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14551E5-A63E-33CE-8930-D401337FA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A3921D-7845-3992-059C-948B3E0D6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430" y="583345"/>
            <a:ext cx="7160357" cy="4164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8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Given more time…</a:t>
            </a:r>
          </a:p>
        </p:txBody>
      </p:sp>
      <p:sp>
        <p:nvSpPr>
          <p:cNvPr id="10" name="Graphic 13">
            <a:extLst>
              <a:ext uri="{FF2B5EF4-FFF2-40B4-BE49-F238E27FC236}">
                <a16:creationId xmlns:a16="http://schemas.microsoft.com/office/drawing/2014/main" id="{FCE29494-E757-B152-62BB-5FB7B2CE1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Graphic 12">
            <a:extLst>
              <a:ext uri="{FF2B5EF4-FFF2-40B4-BE49-F238E27FC236}">
                <a16:creationId xmlns:a16="http://schemas.microsoft.com/office/drawing/2014/main" id="{2983097C-D36A-F66D-FC36-E5F537AB1E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F305FA64-492F-E8F7-604D-064B6C7AA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17A75A-8B01-6138-64ED-ADA7759133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raphic 22">
            <a:extLst>
              <a:ext uri="{FF2B5EF4-FFF2-40B4-BE49-F238E27FC236}">
                <a16:creationId xmlns:a16="http://schemas.microsoft.com/office/drawing/2014/main" id="{59B87F67-AE41-BB63-8578-9BC984AE7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Graphic 23">
            <a:extLst>
              <a:ext uri="{FF2B5EF4-FFF2-40B4-BE49-F238E27FC236}">
                <a16:creationId xmlns:a16="http://schemas.microsoft.com/office/drawing/2014/main" id="{E7E032BC-A3A2-5E10-B71F-C45561CCD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Graphic 21">
            <a:extLst>
              <a:ext uri="{FF2B5EF4-FFF2-40B4-BE49-F238E27FC236}">
                <a16:creationId xmlns:a16="http://schemas.microsoft.com/office/drawing/2014/main" id="{3D55BF27-6160-9D5E-114F-2141A9356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78C64B-C867-00B4-EA1F-4B91CCF8B509}"/>
              </a:ext>
            </a:extLst>
          </p:cNvPr>
          <p:cNvSpPr txBox="1"/>
          <p:nvPr/>
        </p:nvSpPr>
        <p:spPr>
          <a:xfrm>
            <a:off x="1204038" y="1849442"/>
            <a:ext cx="6730593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/>
              <a:t>I would implement</a:t>
            </a:r>
          </a:p>
          <a:p>
            <a:pPr marL="285750" indent="-285750">
              <a:buFontTx/>
              <a:buChar char="-"/>
            </a:pPr>
            <a:r>
              <a:rPr lang="en-SG" sz="2400" dirty="0">
                <a:solidFill>
                  <a:srgbClr val="FFC000"/>
                </a:solidFill>
              </a:rPr>
              <a:t>Regeneration</a:t>
            </a:r>
            <a:r>
              <a:rPr lang="en-SG" sz="2400" dirty="0"/>
              <a:t> Mechanism for when the LLM produces an inaccurate output</a:t>
            </a:r>
          </a:p>
          <a:p>
            <a:pPr marL="285750" indent="-285750">
              <a:buFontTx/>
              <a:buChar char="-"/>
            </a:pPr>
            <a:r>
              <a:rPr lang="en-SG" sz="2400" dirty="0"/>
              <a:t>Try </a:t>
            </a:r>
            <a:r>
              <a:rPr lang="en-SG" sz="2400" dirty="0">
                <a:solidFill>
                  <a:srgbClr val="FFC000"/>
                </a:solidFill>
              </a:rPr>
              <a:t>SQL RAG Agent</a:t>
            </a:r>
          </a:p>
          <a:p>
            <a:pPr marL="742950" lvl="1" indent="-285750">
              <a:buFontTx/>
              <a:buChar char="-"/>
            </a:pPr>
            <a:r>
              <a:rPr lang="en-SG" sz="2400" dirty="0"/>
              <a:t>Should use fewer tokens than current approach</a:t>
            </a:r>
          </a:p>
          <a:p>
            <a:pPr marL="742950" lvl="1" indent="-285750">
              <a:buFontTx/>
              <a:buChar char="-"/>
            </a:pPr>
            <a:r>
              <a:rPr lang="en-SG" sz="2400" dirty="0"/>
              <a:t>May be able to arrive at deeper analyses</a:t>
            </a:r>
          </a:p>
          <a:p>
            <a:pPr marL="285750" indent="-285750">
              <a:buFontTx/>
              <a:buChar char="-"/>
            </a:pPr>
            <a:r>
              <a:rPr lang="en-SG" sz="2400" dirty="0">
                <a:solidFill>
                  <a:srgbClr val="FFC000"/>
                </a:solidFill>
              </a:rPr>
              <a:t>Ragas</a:t>
            </a:r>
            <a:r>
              <a:rPr lang="en-SG" sz="2400" dirty="0"/>
              <a:t> evaluation</a:t>
            </a:r>
          </a:p>
          <a:p>
            <a:pPr marL="285750" indent="-285750">
              <a:buFontTx/>
              <a:buChar char="-"/>
            </a:pPr>
            <a:r>
              <a:rPr lang="en-SG" sz="2400" dirty="0">
                <a:solidFill>
                  <a:srgbClr val="FFC000"/>
                </a:solidFill>
              </a:rPr>
              <a:t>Docker</a:t>
            </a:r>
            <a:r>
              <a:rPr lang="en-SG" sz="2400" dirty="0"/>
              <a:t> containerization</a:t>
            </a:r>
          </a:p>
          <a:p>
            <a:pPr marL="285750" indent="-285750">
              <a:buFontTx/>
              <a:buChar char="-"/>
            </a:pPr>
            <a:r>
              <a:rPr lang="en-SG" sz="2400" dirty="0"/>
              <a:t>Further refining the </a:t>
            </a:r>
            <a:r>
              <a:rPr lang="en-SG" sz="2400" dirty="0">
                <a:solidFill>
                  <a:srgbClr val="FFC000"/>
                </a:solidFill>
              </a:rPr>
              <a:t>prompt</a:t>
            </a:r>
          </a:p>
          <a:p>
            <a:pPr marL="285750" indent="-285750">
              <a:buFontTx/>
              <a:buChar char="-"/>
            </a:pPr>
            <a:r>
              <a:rPr lang="en-SG" sz="2400" dirty="0"/>
              <a:t>Improve report </a:t>
            </a:r>
            <a:r>
              <a:rPr lang="en-SG" sz="2400" dirty="0">
                <a:solidFill>
                  <a:srgbClr val="FFC000"/>
                </a:solidFill>
              </a:rPr>
              <a:t>formatting</a:t>
            </a:r>
            <a:endParaRPr lang="en-US" sz="2400" dirty="0">
              <a:solidFill>
                <a:srgbClr val="FFC000"/>
              </a:solidFill>
            </a:endParaRPr>
          </a:p>
          <a:p>
            <a:pPr marL="285750" indent="-285750">
              <a:buFontTx/>
              <a:buChar char="-"/>
            </a:pPr>
            <a:endParaRPr lang="en-SG" dirty="0"/>
          </a:p>
          <a:p>
            <a:pPr marL="342900" indent="-342900">
              <a:buFontTx/>
              <a:buChar char="-"/>
            </a:pPr>
            <a:endParaRPr lang="en-SG" sz="2000" dirty="0"/>
          </a:p>
          <a:p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3276660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</TotalTime>
  <Words>545</Words>
  <Application>Microsoft Office PowerPoint</Application>
  <PresentationFormat>Widescreen</PresentationFormat>
  <Paragraphs>82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Automated LLM Report Generation </vt:lpstr>
      <vt:lpstr>Approach  (Eng)</vt:lpstr>
      <vt:lpstr>Approach (DS)</vt:lpstr>
      <vt:lpstr>Data Processing Pipeline</vt:lpstr>
      <vt:lpstr>Invoke LLM Pipeline</vt:lpstr>
      <vt:lpstr>Generate Report Pipeline</vt:lpstr>
      <vt:lpstr>Results</vt:lpstr>
      <vt:lpstr>Given more time…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Leroy Ee</dc:creator>
  <cp:lastModifiedBy>Leroy Ee</cp:lastModifiedBy>
  <cp:revision>2</cp:revision>
  <dcterms:created xsi:type="dcterms:W3CDTF">2025-12-03T10:45:18Z</dcterms:created>
  <dcterms:modified xsi:type="dcterms:W3CDTF">2025-12-03T16:28:06Z</dcterms:modified>
</cp:coreProperties>
</file>